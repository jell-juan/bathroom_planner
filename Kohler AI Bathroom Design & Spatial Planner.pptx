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lus Jakarta Sans"/>
      <p:regular r:id="rId10"/>
      <p:bold r:id="rId11"/>
      <p:italic r:id="rId12"/>
      <p:boldItalic r:id="rId13"/>
    </p:embeddedFont>
    <p:embeddedFont>
      <p:font typeface="Space Grotesk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bold.fntdata"/><Relationship Id="rId10" Type="http://schemas.openxmlformats.org/officeDocument/2006/relationships/font" Target="fonts/PlusJakartaSans-regular.fntdata"/><Relationship Id="rId13" Type="http://schemas.openxmlformats.org/officeDocument/2006/relationships/font" Target="fonts/PlusJakartaSans-boldItalic.fntdata"/><Relationship Id="rId12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paceGrotesk-bold.fntdata"/><Relationship Id="rId14" Type="http://schemas.openxmlformats.org/officeDocument/2006/relationships/font" Target="fonts/SpaceGrotes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4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855815"/>
            <a:ext cx="457200" cy="28575"/>
          </a:xfrm>
          <a:prstGeom prst="rect">
            <a:avLst/>
          </a:prstGeom>
          <a:solidFill>
            <a:srgbClr val="C8A2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1902172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A2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KOHLER | SUSTAINABLE DESIGN INTELLIGENCE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254597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Bathroom Design &amp; Spatial Planner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622327"/>
            <a:ext cx="6572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CE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multi-stage generative intelligence platform unifying natural language input, neural preference embeddings, and CP-SAT constraint optimization.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19200" y="4784377"/>
            <a:ext cx="3595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39B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1 TECHNICAL ARCHITECTURE &amp; UI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2190750"/>
            <a:ext cx="5699819" cy="876300"/>
          </a:xfrm>
          <a:prstGeom prst="roundRect">
            <a:avLst>
              <a:gd fmla="val 8695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9600" y="3219450"/>
            <a:ext cx="5699819" cy="704850"/>
          </a:xfrm>
          <a:prstGeom prst="roundRect">
            <a:avLst>
              <a:gd fmla="val 10810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09600" y="4076700"/>
            <a:ext cx="5699819" cy="704850"/>
          </a:xfrm>
          <a:prstGeom prst="roundRect">
            <a:avLst>
              <a:gd fmla="val 10810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09600" y="4933950"/>
            <a:ext cx="5699819" cy="704850"/>
          </a:xfrm>
          <a:prstGeom prst="roundRect">
            <a:avLst>
              <a:gd fmla="val 10810" name="adj"/>
            </a:avLst>
          </a:prstGeom>
          <a:solidFill>
            <a:srgbClr val="2D4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00100" y="2486025"/>
            <a:ext cx="381000" cy="285750"/>
          </a:xfrm>
          <a:prstGeom prst="roundRect">
            <a:avLst>
              <a:gd fmla="val 13333" name="adj"/>
            </a:avLst>
          </a:prstGeom>
          <a:solidFill>
            <a:srgbClr val="2D4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800100" y="3429000"/>
            <a:ext cx="400050" cy="285750"/>
          </a:xfrm>
          <a:prstGeom prst="roundRect">
            <a:avLst>
              <a:gd fmla="val 13333" name="adj"/>
            </a:avLst>
          </a:prstGeom>
          <a:solidFill>
            <a:srgbClr val="2D4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00100" y="4286250"/>
            <a:ext cx="409575" cy="285750"/>
          </a:xfrm>
          <a:prstGeom prst="roundRect">
            <a:avLst>
              <a:gd fmla="val 13333" name="adj"/>
            </a:avLst>
          </a:prstGeom>
          <a:solidFill>
            <a:srgbClr val="2D4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00100" y="5143500"/>
            <a:ext cx="409575" cy="285750"/>
          </a:xfrm>
          <a:prstGeom prst="roundRect">
            <a:avLst>
              <a:gd fmla="val 13333" name="adj"/>
            </a:avLst>
          </a:prstGeom>
          <a:solidFill>
            <a:srgbClr val="C8A2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419" y="2105025"/>
            <a:ext cx="489198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4719" y="2219325"/>
            <a:ext cx="466338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D4A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8191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5-Stage Intelligent Design Pipeline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14400" y="2543175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3486150"/>
            <a:ext cx="266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4343400"/>
            <a:ext cx="276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14400" y="5200650"/>
            <a:ext cx="276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F34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33500" y="2343150"/>
            <a:ext cx="628086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SmolLM Intent Parsing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333500" y="2571750"/>
            <a:ext cx="488066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Extracts budget, room dimensions, and required fixtures into structured JSON.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352550" y="3371850"/>
            <a:ext cx="558819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LSTM &amp; Vector Space RAG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352550" y="3600450"/>
            <a:ext cx="5322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Encodes style preferences and retrieves candidate catalog bundles.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362075" y="4229100"/>
            <a:ext cx="60257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CP-SAT Optimization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362075" y="4457700"/>
            <a:ext cx="5738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Enforces 100% hard spatial clearances and budget boundary compliance.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362075" y="5086350"/>
            <a:ext cx="606325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2D Spatial Floorplan Engine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362075" y="5314950"/>
            <a:ext cx="57745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4CE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Generates scaled top-down CAD diagrams rendered to Streamlit timeline.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609600" y="2624137"/>
            <a:ext cx="3505200" cy="1257300"/>
          </a:xfrm>
          <a:prstGeom prst="roundRect">
            <a:avLst>
              <a:gd fmla="val 9090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343400" y="2624137"/>
            <a:ext cx="3505200" cy="1257300"/>
          </a:xfrm>
          <a:prstGeom prst="roundRect">
            <a:avLst>
              <a:gd fmla="val 9090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077200" y="2624137"/>
            <a:ext cx="3505200" cy="1257300"/>
          </a:xfrm>
          <a:prstGeom prst="roundRect">
            <a:avLst>
              <a:gd fmla="val 9090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09600" y="4148137"/>
            <a:ext cx="5372100" cy="1057275"/>
          </a:xfrm>
          <a:prstGeom prst="roundRect">
            <a:avLst>
              <a:gd fmla="val 10810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210300" y="4148137"/>
            <a:ext cx="5372100" cy="1057275"/>
          </a:xfrm>
          <a:prstGeom prst="roundRect">
            <a:avLst>
              <a:gd fmla="val 10810" name="adj"/>
            </a:avLst>
          </a:prstGeom>
          <a:solidFill>
            <a:srgbClr val="F2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3957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900" y="43957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D4A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&amp; PERFORMANCE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" y="8191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Kohler UI &amp; Benchmark Metrics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09575" y="2852737"/>
            <a:ext cx="39052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4A3E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&lt;1.2s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09575" y="3471862"/>
            <a:ext cx="3905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Execution Latency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143375" y="2852737"/>
            <a:ext cx="39052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4A3E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100%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143375" y="3471862"/>
            <a:ext cx="3905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Constraint Adherence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877175" y="2852737"/>
            <a:ext cx="39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D4A3E"/>
                </a:solidFill>
                <a:latin typeface="Space Grotesk"/>
                <a:ea typeface="Space Grotesk"/>
                <a:cs typeface="Space Grotesk"/>
                <a:sym typeface="Space Grotesk"/>
              </a:rPr>
              <a:t>20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877175" y="3471862"/>
            <a:ext cx="390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Simulated </a:t>
            </a:r>
            <a:r>
              <a:rPr b="1" i="0" lang="en-US" sz="1125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Kohler Catalog Products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219200" y="4376737"/>
            <a:ext cx="59507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Warm Earth Aesthetic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19200" y="4633912"/>
            <a:ext cx="462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Kohler cream backgrounds (#FAF8F5), warm typography, and forest green accents.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819900" y="4376737"/>
            <a:ext cx="5372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2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Versioned Timeline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819900" y="4633912"/>
            <a:ext cx="4629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Sidebar tracks floorplan revisions with prominent "Latest Design" badges.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42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5867400" y="4071937"/>
            <a:ext cx="457200" cy="28575"/>
          </a:xfrm>
          <a:prstGeom prst="rect">
            <a:avLst/>
          </a:prstGeom>
          <a:solidFill>
            <a:srgbClr val="C8A2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4488656" y="2357437"/>
            <a:ext cx="3214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A2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KOHLER | AI DESIGN STUDIO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45331" y="2709862"/>
            <a:ext cx="1070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Elevating Everyday Sanctuary Rituals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2387203" y="3481387"/>
            <a:ext cx="74175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CE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you. Ready for technical Q&amp;A and live system demonstration.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3929062" y="4329112"/>
            <a:ext cx="433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39B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Adit BAgaitkrar</a:t>
            </a:r>
            <a:endParaRPr sz="1050">
              <a:solidFill>
                <a:srgbClr val="A39B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39B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adit2006bagaitkar@gmail.com</a:t>
            </a:r>
            <a:endParaRPr sz="1050">
              <a:solidFill>
                <a:srgbClr val="A39B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39B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PRN: 1262241840</a:t>
            </a:r>
            <a:endParaRPr sz="1050">
              <a:solidFill>
                <a:srgbClr val="A39B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39B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